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7617"/>
  </p:normalViewPr>
  <p:slideViewPr>
    <p:cSldViewPr snapToGrid="0" snapToObjects="1">
      <p:cViewPr varScale="1">
        <p:scale>
          <a:sx n="110" d="100"/>
          <a:sy n="110" d="100"/>
        </p:scale>
        <p:origin x="212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4618E-1E0C-764B-93B7-C9710A9D1D9E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F50E7-A9F4-C445-AE5B-4D8693B6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83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Data_center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B559F-D368-9D47-B2D4-4B35AE0ED4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94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</a:t>
            </a:r>
            <a:r>
              <a:rPr lang="en-US" baseline="0" dirty="0"/>
              <a:t> reading before this class: http://</a:t>
            </a:r>
            <a:r>
              <a:rPr lang="en-US" baseline="0" dirty="0" err="1"/>
              <a:t>en.wikipedia.org</a:t>
            </a:r>
            <a:r>
              <a:rPr lang="en-US" baseline="0" dirty="0"/>
              <a:t>/wiki/</a:t>
            </a:r>
            <a:r>
              <a:rPr lang="en-US" baseline="0" dirty="0" err="1"/>
              <a:t>Data_center</a:t>
            </a: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B559F-D368-9D47-B2D4-4B35AE0ED4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44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Source: </a:t>
            </a:r>
            <a:r>
              <a:rPr lang="en-US" sz="1200" dirty="0">
                <a:solidFill>
                  <a:srgbClr val="FFFFFF"/>
                </a:solidFill>
                <a:hlinkClick r:id="rId3"/>
              </a:rPr>
              <a:t>http://en.wikipedia.org/wiki/Data_center</a:t>
            </a:r>
            <a:endParaRPr lang="en-US" sz="1200" dirty="0">
              <a:solidFill>
                <a:srgbClr val="FFFFFF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B559F-D368-9D47-B2D4-4B35AE0ED4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58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labs.vmware.com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/download/90/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Quote: http://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www.eweek.com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/c/a/IT-Infrastructure/Unplanned-IT-Downtime-Can-Cost-5K-Per-Minute-Report-549007/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B559F-D368-9D47-B2D4-4B35AE0ED4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6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400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chemeClr val="accent1">
                  <a:alpha val="0"/>
                </a:schemeClr>
              </a:gs>
              <a:gs pos="57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50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1676400"/>
            <a:ext cx="3886200" cy="1524000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203574"/>
            <a:ext cx="3886200" cy="18256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C59-7B24-8A4A-99EE-3EFFBE1A9F0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77BD3170-756A-094F-B282-FFC350CFA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7772400" cy="3733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C59-7B24-8A4A-99EE-3EFFBE1A9F0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D3170-756A-094F-B282-FFC350CFA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4000">
                <a:srgbClr val="333333"/>
              </a:gs>
              <a:gs pos="83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rgbClr val="000000">
                  <a:alpha val="0"/>
                </a:srgbClr>
              </a:gs>
              <a:gs pos="57000">
                <a:srgbClr val="4D4D4D"/>
              </a:gs>
              <a:gs pos="10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33787"/>
            <a:ext cx="77724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33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C59-7B24-8A4A-99EE-3EFFBE1A9F0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D3170-756A-094F-B282-FFC350CFA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C59-7B24-8A4A-99EE-3EFFBE1A9F0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D3170-756A-094F-B282-FFC350CFA0E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C59-7B24-8A4A-99EE-3EFFBE1A9F0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D3170-756A-094F-B282-FFC350CFA0E9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85800" y="2209800"/>
            <a:ext cx="36576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6576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reeform 7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C59-7B24-8A4A-99EE-3EFFBE1A9F0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D3170-756A-094F-B282-FFC350CFA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3"/>
              </a:gs>
              <a:gs pos="50000">
                <a:schemeClr val="accent3">
                  <a:lumMod val="40000"/>
                  <a:lumOff val="60000"/>
                </a:schemeClr>
              </a:gs>
              <a:gs pos="5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5381627"/>
            <a:ext cx="3286124" cy="1207294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6996854"/>
              <a:gd name="connsiteY0" fmla="*/ 0 h 1571625"/>
              <a:gd name="connsiteX1" fmla="*/ 6996854 w 6996854"/>
              <a:gd name="connsiteY1" fmla="*/ 1266825 h 1571625"/>
              <a:gd name="connsiteX2" fmla="*/ 0 w 6996854"/>
              <a:gd name="connsiteY2" fmla="*/ 1571625 h 1571625"/>
              <a:gd name="connsiteX3" fmla="*/ 0 w 6996854"/>
              <a:gd name="connsiteY3" fmla="*/ 0 h 1571625"/>
              <a:gd name="connsiteX0" fmla="*/ 0 w 7583417"/>
              <a:gd name="connsiteY0" fmla="*/ 0 h 800100"/>
              <a:gd name="connsiteX1" fmla="*/ 7583417 w 7583417"/>
              <a:gd name="connsiteY1" fmla="*/ 495300 h 800100"/>
              <a:gd name="connsiteX2" fmla="*/ 586563 w 7583417"/>
              <a:gd name="connsiteY2" fmla="*/ 800100 h 800100"/>
              <a:gd name="connsiteX3" fmla="*/ 0 w 7583417"/>
              <a:gd name="connsiteY3" fmla="*/ 0 h 800100"/>
              <a:gd name="connsiteX0" fmla="*/ 0 w 7017803"/>
              <a:gd name="connsiteY0" fmla="*/ 0 h 1200150"/>
              <a:gd name="connsiteX1" fmla="*/ 7017803 w 7017803"/>
              <a:gd name="connsiteY1" fmla="*/ 895350 h 1200150"/>
              <a:gd name="connsiteX2" fmla="*/ 20949 w 7017803"/>
              <a:gd name="connsiteY2" fmla="*/ 1200150 h 1200150"/>
              <a:gd name="connsiteX3" fmla="*/ 0 w 7017803"/>
              <a:gd name="connsiteY3" fmla="*/ 0 h 1200150"/>
              <a:gd name="connsiteX0" fmla="*/ 0 w 6410292"/>
              <a:gd name="connsiteY0" fmla="*/ 0 h 1752600"/>
              <a:gd name="connsiteX1" fmla="*/ 6410292 w 6410292"/>
              <a:gd name="connsiteY1" fmla="*/ 1752600 h 1752600"/>
              <a:gd name="connsiteX2" fmla="*/ 20949 w 6410292"/>
              <a:gd name="connsiteY2" fmla="*/ 1200150 h 1752600"/>
              <a:gd name="connsiteX3" fmla="*/ 0 w 6410292"/>
              <a:gd name="connsiteY3" fmla="*/ 0 h 1752600"/>
              <a:gd name="connsiteX0" fmla="*/ 0 w 7227290"/>
              <a:gd name="connsiteY0" fmla="*/ 0 h 1200150"/>
              <a:gd name="connsiteX1" fmla="*/ 7227290 w 7227290"/>
              <a:gd name="connsiteY1" fmla="*/ 885825 h 1200150"/>
              <a:gd name="connsiteX2" fmla="*/ 20949 w 7227290"/>
              <a:gd name="connsiteY2" fmla="*/ 1200150 h 1200150"/>
              <a:gd name="connsiteX3" fmla="*/ 0 w 7227290"/>
              <a:gd name="connsiteY3" fmla="*/ 0 h 1200150"/>
              <a:gd name="connsiteX0" fmla="*/ 0 w 7227290"/>
              <a:gd name="connsiteY0" fmla="*/ 0 h 885825"/>
              <a:gd name="connsiteX1" fmla="*/ 7227290 w 7227290"/>
              <a:gd name="connsiteY1" fmla="*/ 885825 h 885825"/>
              <a:gd name="connsiteX2" fmla="*/ 555141 w 7227290"/>
              <a:gd name="connsiteY2" fmla="*/ 862013 h 885825"/>
              <a:gd name="connsiteX3" fmla="*/ 0 w 7227290"/>
              <a:gd name="connsiteY3" fmla="*/ 0 h 885825"/>
              <a:gd name="connsiteX0" fmla="*/ 0 w 7227290"/>
              <a:gd name="connsiteY0" fmla="*/ 0 h 1207294"/>
              <a:gd name="connsiteX1" fmla="*/ 7227290 w 7227290"/>
              <a:gd name="connsiteY1" fmla="*/ 885825 h 1207294"/>
              <a:gd name="connsiteX2" fmla="*/ 0 w 7227290"/>
              <a:gd name="connsiteY2" fmla="*/ 1207294 h 1207294"/>
              <a:gd name="connsiteX3" fmla="*/ 0 w 7227290"/>
              <a:gd name="connsiteY3" fmla="*/ 0 h 1207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90" h="1207294">
                <a:moveTo>
                  <a:pt x="0" y="0"/>
                </a:moveTo>
                <a:lnTo>
                  <a:pt x="7227290" y="885825"/>
                </a:lnTo>
                <a:lnTo>
                  <a:pt x="0" y="1207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196" y="5347020"/>
            <a:ext cx="3426231" cy="944725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2830674 w 7605568"/>
              <a:gd name="connsiteY2" fmla="*/ 806612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2930931"/>
              <a:gd name="connsiteY0" fmla="*/ 0 h 806612"/>
              <a:gd name="connsiteX1" fmla="*/ 0 w 2930931"/>
              <a:gd name="connsiteY1" fmla="*/ 75665 h 806612"/>
              <a:gd name="connsiteX2" fmla="*/ 2830674 w 2930931"/>
              <a:gd name="connsiteY2" fmla="*/ 806612 h 806612"/>
              <a:gd name="connsiteX3" fmla="*/ 2930931 w 2930931"/>
              <a:gd name="connsiteY3" fmla="*/ 785765 h 806612"/>
              <a:gd name="connsiteX4" fmla="*/ 1 w 2930931"/>
              <a:gd name="connsiteY4" fmla="*/ 0 h 806612"/>
              <a:gd name="connsiteX0" fmla="*/ 1 w 3204530"/>
              <a:gd name="connsiteY0" fmla="*/ 0 h 944725"/>
              <a:gd name="connsiteX1" fmla="*/ 0 w 3204530"/>
              <a:gd name="connsiteY1" fmla="*/ 75665 h 944725"/>
              <a:gd name="connsiteX2" fmla="*/ 3204530 w 3204530"/>
              <a:gd name="connsiteY2" fmla="*/ 944725 h 944725"/>
              <a:gd name="connsiteX3" fmla="*/ 2930931 w 3204530"/>
              <a:gd name="connsiteY3" fmla="*/ 785765 h 944725"/>
              <a:gd name="connsiteX4" fmla="*/ 1 w 3204530"/>
              <a:gd name="connsiteY4" fmla="*/ 0 h 944725"/>
              <a:gd name="connsiteX0" fmla="*/ 1 w 3426231"/>
              <a:gd name="connsiteY0" fmla="*/ 0 h 944725"/>
              <a:gd name="connsiteX1" fmla="*/ 0 w 3426231"/>
              <a:gd name="connsiteY1" fmla="*/ 75665 h 944725"/>
              <a:gd name="connsiteX2" fmla="*/ 3204530 w 3426231"/>
              <a:gd name="connsiteY2" fmla="*/ 944725 h 944725"/>
              <a:gd name="connsiteX3" fmla="*/ 3426231 w 3426231"/>
              <a:gd name="connsiteY3" fmla="*/ 923877 h 944725"/>
              <a:gd name="connsiteX4" fmla="*/ 1 w 3426231"/>
              <a:gd name="connsiteY4" fmla="*/ 0 h 94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6231" h="944725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3204530" y="944725"/>
                </a:lnTo>
                <a:lnTo>
                  <a:pt x="3426231" y="923877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C59-7B24-8A4A-99EE-3EFFBE1A9F0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D3170-756A-094F-B282-FFC350CFA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C59-7B24-8A4A-99EE-3EFFBE1A9F0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D3170-756A-094F-B282-FFC350CFA0E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572000" y="609600"/>
            <a:ext cx="38862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76274" y="1527048"/>
            <a:ext cx="3383280" cy="32918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0" y="609600"/>
            <a:ext cx="3886200" cy="4190999"/>
          </a:xfrm>
          <a:ln w="79375">
            <a:solidFill>
              <a:schemeClr val="tx1"/>
            </a:solidFill>
            <a:miter lim="800000"/>
          </a:ln>
          <a:effectLst>
            <a:outerShdw blurRad="50800" dist="38100" dir="5400000" algn="ctr" rotWithShape="0">
              <a:srgbClr val="000000">
                <a:alpha val="42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5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C59-7B24-8A4A-99EE-3EFFBE1A9F0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D3170-756A-094F-B282-FFC350CFA0E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76656" y="1524000"/>
            <a:ext cx="3381375" cy="32956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C59-7B24-8A4A-99EE-3EFFBE1A9F0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D3170-756A-094F-B282-FFC350CFA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C59-7B24-8A4A-99EE-3EFFBE1A9F0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D3170-756A-094F-B282-FFC350CFA0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3">
              <a:alphaModFix amt="15000"/>
            </a:blip>
            <a:srcRect/>
            <a:tile tx="0" ty="0" sx="76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416675"/>
            <a:ext cx="1981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lang="en-US" sz="900" kern="1200" cap="all" spc="110" baseline="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62FAC59-7B24-8A4A-99EE-3EFFBE1A9F0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16675"/>
            <a:ext cx="28956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l">
              <a:defRPr sz="900" cap="all" spc="110" baseline="0">
                <a:solidFill>
                  <a:srgbClr val="4D4D4D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416675"/>
            <a:ext cx="457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sz="1100" b="1" baseline="0">
                <a:solidFill>
                  <a:srgbClr val="4D4D4D"/>
                </a:solidFill>
              </a:defRPr>
            </a:lvl1pPr>
          </a:lstStyle>
          <a:p>
            <a:fld id="{77BD3170-756A-094F-B282-FFC350CFA0E9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Center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EBF8-7CF5-44B7-B2BF-E22DE4D0703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6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data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sz="2800" dirty="0"/>
              <a:t>Data centers provide a range on information technology services </a:t>
            </a:r>
          </a:p>
          <a:p>
            <a:r>
              <a:rPr lang="en-US" sz="2400" dirty="0"/>
              <a:t>These services include:</a:t>
            </a:r>
          </a:p>
          <a:p>
            <a:pPr lvl="1"/>
            <a:r>
              <a:rPr lang="en-US" sz="2000" dirty="0"/>
              <a:t>Email</a:t>
            </a:r>
          </a:p>
          <a:p>
            <a:pPr lvl="1"/>
            <a:r>
              <a:rPr lang="en-US" sz="2000" dirty="0"/>
              <a:t>Data storage and management</a:t>
            </a:r>
          </a:p>
          <a:p>
            <a:pPr lvl="1"/>
            <a:r>
              <a:rPr lang="en-US" sz="2000" dirty="0"/>
              <a:t>Web hosting</a:t>
            </a:r>
          </a:p>
          <a:p>
            <a:pPr lvl="1"/>
            <a:r>
              <a:rPr lang="en-US" sz="2000" dirty="0"/>
              <a:t>Application Hosting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EBF8-7CF5-44B7-B2BF-E22DE4D0703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8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data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3914419"/>
          </a:xfrm>
        </p:spPr>
        <p:txBody>
          <a:bodyPr numCol="2">
            <a:normAutofit/>
          </a:bodyPr>
          <a:lstStyle/>
          <a:p>
            <a:r>
              <a:rPr lang="en-US" dirty="0"/>
              <a:t>Data centers are </a:t>
            </a:r>
            <a:r>
              <a:rPr lang="en-US" i="1" dirty="0"/>
              <a:t>designed</a:t>
            </a:r>
            <a:r>
              <a:rPr lang="en-US" dirty="0"/>
              <a:t> to house information systems and related components such as:</a:t>
            </a:r>
          </a:p>
          <a:p>
            <a:pPr lvl="1"/>
            <a:r>
              <a:rPr lang="en-US" sz="1800" dirty="0"/>
              <a:t>Servers</a:t>
            </a:r>
          </a:p>
          <a:p>
            <a:pPr lvl="1"/>
            <a:r>
              <a:rPr lang="en-US" sz="1800" dirty="0"/>
              <a:t>Routers</a:t>
            </a:r>
          </a:p>
          <a:p>
            <a:pPr lvl="1"/>
            <a:r>
              <a:rPr lang="en-US" sz="1800" dirty="0"/>
              <a:t>Storage </a:t>
            </a:r>
          </a:p>
          <a:p>
            <a:pPr lvl="1"/>
            <a:r>
              <a:rPr lang="en-US" sz="1800" dirty="0"/>
              <a:t>Uninterruptable power supplies (UPS)</a:t>
            </a:r>
          </a:p>
          <a:p>
            <a:pPr lvl="1"/>
            <a:r>
              <a:rPr lang="en-US" sz="1800" dirty="0"/>
              <a:t>Cooling Units</a:t>
            </a:r>
          </a:p>
          <a:p>
            <a:pPr lvl="1"/>
            <a:r>
              <a:rPr lang="en-US" sz="1800" dirty="0"/>
              <a:t>Power Distribution Unit (PDU)</a:t>
            </a:r>
          </a:p>
          <a:p>
            <a:endParaRPr lang="en-US" sz="1800" dirty="0"/>
          </a:p>
          <a:p>
            <a:r>
              <a:rPr lang="en-US" dirty="0"/>
              <a:t>Data centers have unique and typically large power requirements</a:t>
            </a:r>
          </a:p>
          <a:p>
            <a:r>
              <a:rPr lang="en-US" dirty="0"/>
              <a:t>They are often raised floor designs to accommodate the large amount of cables required. </a:t>
            </a:r>
          </a:p>
          <a:p>
            <a:pPr marL="68580" indent="0">
              <a:buNone/>
            </a:pPr>
            <a:endParaRPr lang="en-US" sz="1200" dirty="0"/>
          </a:p>
          <a:p>
            <a:pPr marL="68580" indent="0">
              <a:buNone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EBF8-7CF5-44B7-B2BF-E22DE4D0703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60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center Benefits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EBF8-7CF5-44B7-B2BF-E22DE4D0703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400" dirty="0"/>
              <a:t>Economies of Scale</a:t>
            </a:r>
          </a:p>
          <a:p>
            <a:pPr lvl="1"/>
            <a:r>
              <a:rPr lang="en-US" sz="2000" dirty="0"/>
              <a:t>Purchasing savings based on large purchases</a:t>
            </a:r>
          </a:p>
          <a:p>
            <a:pPr lvl="1"/>
            <a:r>
              <a:rPr lang="en-US" sz="2000" dirty="0"/>
              <a:t>Dedicated IT staff</a:t>
            </a:r>
          </a:p>
          <a:p>
            <a:pPr lvl="1"/>
            <a:r>
              <a:rPr lang="en-US" sz="2000" dirty="0"/>
              <a:t>Shared resources</a:t>
            </a:r>
          </a:p>
          <a:p>
            <a:pPr marL="468630" lvl="1" indent="0">
              <a:buNone/>
            </a:pP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  <a:prstGeom prst="rect">
            <a:avLst/>
          </a:prstGeom>
        </p:spPr>
        <p:txBody>
          <a:bodyPr/>
          <a:lstStyle/>
          <a:p>
            <a:r>
              <a:rPr lang="en-US" sz="2400" dirty="0"/>
              <a:t>Security</a:t>
            </a:r>
          </a:p>
          <a:p>
            <a:pPr lvl="1"/>
            <a:r>
              <a:rPr lang="en-US" sz="2000" dirty="0"/>
              <a:t>Physical</a:t>
            </a:r>
          </a:p>
          <a:p>
            <a:pPr lvl="2"/>
            <a:r>
              <a:rPr lang="en-US" sz="2000" dirty="0"/>
              <a:t>Limited access to servers</a:t>
            </a:r>
          </a:p>
          <a:p>
            <a:pPr lvl="2"/>
            <a:r>
              <a:rPr lang="en-US" sz="2000" dirty="0"/>
              <a:t>Surveillance</a:t>
            </a:r>
          </a:p>
          <a:p>
            <a:pPr lvl="1"/>
            <a:r>
              <a:rPr lang="en-US" sz="2000" dirty="0"/>
              <a:t>Virtual</a:t>
            </a:r>
          </a:p>
          <a:p>
            <a:pPr lvl="2"/>
            <a:r>
              <a:rPr lang="en-US" sz="2000" dirty="0"/>
              <a:t>Firewalls</a:t>
            </a:r>
          </a:p>
          <a:p>
            <a:pPr lvl="2"/>
            <a:r>
              <a:rPr lang="en-US" sz="2000" dirty="0"/>
              <a:t>Anti-virus</a:t>
            </a:r>
          </a:p>
          <a:p>
            <a:pPr lvl="2"/>
            <a:r>
              <a:rPr lang="en-US" sz="2000" dirty="0"/>
              <a:t>Password Protection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280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8574455"/>
              </p:ext>
            </p:extLst>
          </p:nvPr>
        </p:nvGraphicFramePr>
        <p:xfrm>
          <a:off x="511175" y="543568"/>
          <a:ext cx="823595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608">
                <a:tc>
                  <a:txBody>
                    <a:bodyPr/>
                    <a:lstStyle/>
                    <a:p>
                      <a:r>
                        <a:rPr lang="en-US" dirty="0"/>
                        <a:t>Tier </a:t>
                      </a:r>
                    </a:p>
                    <a:p>
                      <a:r>
                        <a:rPr lang="en-US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Data center classification</a:t>
                      </a:r>
                      <a:endParaRPr lang="en-US" sz="320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Single non-redundant</a:t>
                      </a:r>
                      <a:r>
                        <a:rPr lang="en-US" baseline="0" dirty="0"/>
                        <a:t> distribution path serving the IT equipment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aseline="0" dirty="0"/>
                        <a:t>Non-redundant capacity components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aseline="0" dirty="0"/>
                        <a:t>Basic site infrastructure guaranteeing 99.671%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Fulfills all Tier 1 requirements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Redundant</a:t>
                      </a:r>
                      <a:r>
                        <a:rPr lang="en-US" baseline="0" dirty="0"/>
                        <a:t> site infrastructure capacity components guaranteeing  99.741% availability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Fulfills all Tier 1 and Tier</a:t>
                      </a:r>
                      <a:r>
                        <a:rPr lang="en-US" baseline="0" dirty="0"/>
                        <a:t> 2 requirements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aseline="0" dirty="0"/>
                        <a:t>Multiple independent distribution paths serving the IT equipment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aseline="0" dirty="0"/>
                        <a:t>All it equipment must be dual-powered and fully compatible with the topology of a site’s architecture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aseline="0" dirty="0"/>
                        <a:t>Concurrently maintainable site infrastructure guaranteeing 99.982% availability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Fulfills all Tier 1, Tier 2, and Tire 3 requirements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All cooling equipment is independently dual-powered,</a:t>
                      </a:r>
                      <a:r>
                        <a:rPr lang="en-US" baseline="0" dirty="0"/>
                        <a:t> including chillers and heating, ventilation and air-conditioning (HVAC) systems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aseline="0" dirty="0"/>
                        <a:t>Fault tolerant site infrastructure with electrical power storage and distribution facilities guaranteeing 99.995% availability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EBF8-7CF5-44B7-B2BF-E22DE4D0703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7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 these classifications mean?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6766699"/>
              </p:ext>
            </p:extLst>
          </p:nvPr>
        </p:nvGraphicFramePr>
        <p:xfrm>
          <a:off x="685800" y="1600200"/>
          <a:ext cx="7772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Downtime/year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Tier 1: 99.671%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28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Tier 2: 99.741%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22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Tier 3: 99.982%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1.5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Tier 4: 99.995%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26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EBF8-7CF5-44B7-B2BF-E22DE4D0703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85800" y="3844948"/>
            <a:ext cx="777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i="1" dirty="0"/>
              <a:t>“Businesses lose an average of about $5,000 per minute in an outage.”</a:t>
            </a:r>
            <a:r>
              <a:rPr lang="en-US" sz="3000" dirty="0"/>
              <a:t> </a:t>
            </a:r>
          </a:p>
          <a:p>
            <a:endParaRPr lang="en-US" sz="3000" dirty="0"/>
          </a:p>
          <a:p>
            <a:pPr algn="ctr"/>
            <a:r>
              <a:rPr lang="en-US" sz="3000" dirty="0"/>
              <a:t>$300,000 per hour.</a:t>
            </a:r>
          </a:p>
        </p:txBody>
      </p:sp>
    </p:spTree>
    <p:extLst>
      <p:ext uri="{BB962C8B-B14F-4D97-AF65-F5344CB8AC3E}">
        <p14:creationId xmlns:p14="http://schemas.microsoft.com/office/powerpoint/2010/main" val="1450966499"/>
      </p:ext>
    </p:extLst>
  </p:cSld>
  <p:clrMapOvr>
    <a:masterClrMapping/>
  </p:clrMapOvr>
</p:sld>
</file>

<file path=ppt/theme/theme1.xml><?xml version="1.0" encoding="utf-8"?>
<a:theme xmlns:a="http://schemas.openxmlformats.org/drawingml/2006/main" name="Urban Pop">
  <a:themeElements>
    <a:clrScheme name="Urban Pop">
      <a:dk1>
        <a:srgbClr val="000000"/>
      </a:dk1>
      <a:lt1>
        <a:srgbClr val="FFFFFF"/>
      </a:lt1>
      <a:dk2>
        <a:srgbClr val="282828"/>
      </a:dk2>
      <a:lt2>
        <a:srgbClr val="D4D4D4"/>
      </a:lt2>
      <a:accent1>
        <a:srgbClr val="86CE24"/>
      </a:accent1>
      <a:accent2>
        <a:srgbClr val="00A2E6"/>
      </a:accent2>
      <a:accent3>
        <a:srgbClr val="FAC810"/>
      </a:accent3>
      <a:accent4>
        <a:srgbClr val="7D8F8C"/>
      </a:accent4>
      <a:accent5>
        <a:srgbClr val="D06B20"/>
      </a:accent5>
      <a:accent6>
        <a:srgbClr val="958B8B"/>
      </a:accent6>
      <a:hlink>
        <a:srgbClr val="FF9900"/>
      </a:hlink>
      <a:folHlink>
        <a:srgbClr val="969696"/>
      </a:folHlink>
    </a:clrScheme>
    <a:fontScheme name="Urban Pop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Urban Pop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5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contourW="15875">
            <a:bevelT w="95250" h="1270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alpha val="100000"/>
                <a:satMod val="100000"/>
                <a:lumMod val="100000"/>
              </a:schemeClr>
            </a:gs>
            <a:gs pos="9000">
              <a:schemeClr val="phClr">
                <a:tint val="90000"/>
                <a:shade val="100000"/>
                <a:alpha val="100000"/>
                <a:satMod val="100000"/>
                <a:lumMod val="100000"/>
              </a:schemeClr>
            </a:gs>
            <a:gs pos="34000">
              <a:schemeClr val="phClr">
                <a:tint val="83000"/>
                <a:shade val="100000"/>
                <a:alpha val="100000"/>
                <a:satMod val="100000"/>
                <a:lumMod val="100000"/>
              </a:schemeClr>
            </a:gs>
            <a:gs pos="62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  <a:gs pos="90000">
              <a:schemeClr val="phClr">
                <a:tint val="92000"/>
                <a:shade val="100000"/>
                <a:alpha val="100000"/>
                <a:satMod val="100000"/>
                <a:lumMod val="90000"/>
              </a:schemeClr>
            </a:gs>
            <a:gs pos="100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8000"/>
              </a:schemeClr>
            </a:gs>
            <a:gs pos="100000">
              <a:schemeClr val="phClr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 Pop.thmx</Template>
  <TotalTime>55</TotalTime>
  <Words>380</Words>
  <Application>Microsoft Macintosh PowerPoint</Application>
  <PresentationFormat>On-screen Show (4:3)</PresentationFormat>
  <Paragraphs>80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Gill Sans MT</vt:lpstr>
      <vt:lpstr>Wingdings 3</vt:lpstr>
      <vt:lpstr>Urban Pop</vt:lpstr>
      <vt:lpstr>Data Center</vt:lpstr>
      <vt:lpstr>What is a data center</vt:lpstr>
      <vt:lpstr>What is a data center</vt:lpstr>
      <vt:lpstr>Data center Benefits</vt:lpstr>
      <vt:lpstr>PowerPoint Presentation</vt:lpstr>
      <vt:lpstr>What do these classifications mean?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Center</dc:title>
  <dc:creator>H Brotherton</dc:creator>
  <cp:lastModifiedBy>sunil pandey</cp:lastModifiedBy>
  <cp:revision>2</cp:revision>
  <dcterms:created xsi:type="dcterms:W3CDTF">2011-11-29T13:30:21Z</dcterms:created>
  <dcterms:modified xsi:type="dcterms:W3CDTF">2025-08-11T22:19:45Z</dcterms:modified>
</cp:coreProperties>
</file>