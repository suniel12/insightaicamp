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7"/>
    <p:restoredTop sz="94674"/>
  </p:normalViewPr>
  <p:slideViewPr>
    <p:cSldViewPr snapToGrid="0" snapToObjects="1">
      <p:cViewPr varScale="1">
        <p:scale>
          <a:sx n="159" d="100"/>
          <a:sy n="159" d="100"/>
        </p:scale>
        <p:origin x="42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0"/>
            <a:ext cx="2570400" cy="51408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26800" y="2221200"/>
            <a:ext cx="6822000" cy="204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500" b="1">
                <a:solidFill>
                  <a:srgbClr val="0500FF"/>
                </a:solidFill>
                <a:latin typeface="Work Sans"/>
              </a:rPr>
              <a:t>Data Centers: The Hidden Backbone of the Digital 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800" y="1584000"/>
            <a:ext cx="5529600" cy="637200"/>
          </a:xfrm>
          <a:prstGeom prst="rect">
            <a:avLst/>
          </a:prstGeom>
          <a:noFill/>
        </p:spPr>
        <p:txBody>
          <a:bodyPr wrap="square" anchor="b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Discover how IT, power, and cooling equipment work together to keep our digital world running 24/7.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400" y="2109"/>
            <a:ext cx="1731599" cy="5140182"/>
          </a:xfrm>
          <a:prstGeom prst="rect">
            <a:avLst/>
          </a:prstGeom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975600" y="1404000"/>
            <a:ext cx="38340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IT Equipment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6800" y="226800"/>
            <a:ext cx="43992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6800" y="1404000"/>
            <a:ext cx="6912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600" y="1958400"/>
            <a:ext cx="38340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Power Equipment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800" y="1958400"/>
            <a:ext cx="6912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600" y="2509200"/>
            <a:ext cx="38340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Cooling Equipment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6800" y="2509200"/>
            <a:ext cx="6912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600" y="3063600"/>
            <a:ext cx="38340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Equipment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6800" y="3063600"/>
            <a:ext cx="6912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500FF"/>
                </a:solidFill>
                <a:latin typeface="Work Sans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5600" y="3614399"/>
            <a:ext cx="38340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Review &amp; Challenge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800" y="3614399"/>
            <a:ext cx="691200" cy="550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 b="1">
                <a:solidFill>
                  <a:srgbClr val="0500FF"/>
                </a:solidFill>
                <a:latin typeface="Work Sans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40400"/>
            <a:ext cx="4215600" cy="3060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You’ll master the essentials of how data centers operate and keep digital services available.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12" y="226800"/>
            <a:ext cx="693975" cy="144000"/>
          </a:xfrm>
          <a:prstGeom prst="rect">
            <a:avLst/>
          </a:prstGeo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155200" y="0"/>
            <a:ext cx="3988800" cy="1285200"/>
          </a:xfrm>
          <a:prstGeom prst="rect">
            <a:avLst/>
          </a:prstGeom>
          <a:solidFill>
            <a:srgbClr val="F6F6F6"/>
          </a:solidFill>
          <a:ln>
            <a:solidFill>
              <a:srgbClr val="F6F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227200" y="79200"/>
            <a:ext cx="23544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Identify Key Equipment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27200" y="442800"/>
            <a:ext cx="3690000" cy="78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You will spot IT, power, and cooling equipment in a real data center.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155200" y="1285200"/>
            <a:ext cx="3988800" cy="12852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27200" y="1368000"/>
            <a:ext cx="38016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Explain Equipment 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27200" y="1728000"/>
            <a:ext cx="3690000" cy="78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You will describe how different equipment types keep data centers running.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55200" y="2570400"/>
            <a:ext cx="3988800" cy="1285200"/>
          </a:xfrm>
          <a:prstGeom prst="rect">
            <a:avLst/>
          </a:prstGeom>
          <a:solidFill>
            <a:srgbClr val="0500FF"/>
          </a:solidFill>
          <a:ln>
            <a:solidFill>
              <a:srgbClr val="05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227200" y="2653200"/>
            <a:ext cx="38016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Work Sans"/>
              </a:rPr>
              <a:t>Understand Redundancy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27200" y="3013199"/>
            <a:ext cx="3690000" cy="78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FFFFFF"/>
                </a:solidFill>
                <a:latin typeface="Work Sans"/>
              </a:rPr>
              <a:t>You will explain why backup and redundancy are crucial for reliability.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55200" y="3859200"/>
            <a:ext cx="3988800" cy="12852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27200" y="3938400"/>
            <a:ext cx="38016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Work Sans"/>
              </a:rPr>
              <a:t>Map Equipment Locations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27200" y="4298400"/>
            <a:ext cx="3690000" cy="78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FFFFFF"/>
                </a:solidFill>
                <a:latin typeface="Work Sans"/>
              </a:rPr>
              <a:t>You will match equipment to where it’s found in the data center layout.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  <p:sp>
        <p:nvSpPr>
          <p:cNvPr id="3" name="Rounded Rectangle 2"/>
          <p:cNvSpPr/>
          <p:nvPr/>
        </p:nvSpPr>
        <p:spPr>
          <a:xfrm>
            <a:off x="223200" y="2379600"/>
            <a:ext cx="2084400" cy="2084400"/>
          </a:xfrm>
          <a:prstGeom prst="round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4-Point Star 3"/>
          <p:cNvSpPr/>
          <p:nvPr/>
        </p:nvSpPr>
        <p:spPr>
          <a:xfrm>
            <a:off x="1925999" y="2574000"/>
            <a:ext cx="212400" cy="212400"/>
          </a:xfrm>
          <a:prstGeom prst="star4">
            <a:avLst/>
          </a:prstGeom>
          <a:solidFill>
            <a:srgbClr val="0500FF"/>
          </a:solidFill>
          <a:ln>
            <a:solidFill>
              <a:srgbClr val="05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34800" y="2811600"/>
            <a:ext cx="1872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PDU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4800" y="3175200"/>
            <a:ext cx="1872000" cy="114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Power Distribution Unit—advanced power strip for equipment, monitors usage.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26400" y="2379600"/>
            <a:ext cx="2084400" cy="2084400"/>
          </a:xfrm>
          <a:prstGeom prst="roundRect">
            <a:avLst/>
          </a:prstGeom>
          <a:solidFill>
            <a:srgbClr val="0500FF"/>
          </a:solidFill>
          <a:ln>
            <a:solidFill>
              <a:srgbClr val="05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4-Point Star 7"/>
          <p:cNvSpPr/>
          <p:nvPr/>
        </p:nvSpPr>
        <p:spPr>
          <a:xfrm>
            <a:off x="4132800" y="2574000"/>
            <a:ext cx="212400" cy="212400"/>
          </a:xfrm>
          <a:prstGeom prst="star4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38000" y="2811600"/>
            <a:ext cx="1872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FFFFFF"/>
                </a:solidFill>
                <a:latin typeface="Work Sans"/>
              </a:rPr>
              <a:t>CRAC/CRAH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38000" y="3175200"/>
            <a:ext cx="1872000" cy="114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FFFFFF"/>
                </a:solidFill>
                <a:latin typeface="Work Sans"/>
              </a:rPr>
              <a:t>Air conditioning/handling units—keep server rooms cool and stable.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3200" y="2379600"/>
            <a:ext cx="2084400" cy="2084400"/>
          </a:xfrm>
          <a:prstGeom prst="round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4-Point Star 11"/>
          <p:cNvSpPr/>
          <p:nvPr/>
        </p:nvSpPr>
        <p:spPr>
          <a:xfrm>
            <a:off x="6339600" y="2574000"/>
            <a:ext cx="212400" cy="212400"/>
          </a:xfrm>
          <a:prstGeom prst="star4">
            <a:avLst/>
          </a:prstGeom>
          <a:solidFill>
            <a:srgbClr val="0500FF"/>
          </a:solidFill>
          <a:ln>
            <a:solidFill>
              <a:srgbClr val="05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44800" y="2811600"/>
            <a:ext cx="1872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UPS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4800" y="3175200"/>
            <a:ext cx="1872000" cy="114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Uninterruptible Power Supply—battery backup for instant power during outages.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36399" y="2379600"/>
            <a:ext cx="2084400" cy="2084400"/>
          </a:xfrm>
          <a:prstGeom prst="round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4-Point Star 15"/>
          <p:cNvSpPr/>
          <p:nvPr/>
        </p:nvSpPr>
        <p:spPr>
          <a:xfrm>
            <a:off x="8542800" y="2570400"/>
            <a:ext cx="212400" cy="212400"/>
          </a:xfrm>
          <a:prstGeom prst="star4">
            <a:avLst/>
          </a:prstGeom>
          <a:solidFill>
            <a:srgbClr val="0500FF"/>
          </a:solidFill>
          <a:ln>
            <a:solidFill>
              <a:srgbClr val="05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51600" y="2811600"/>
            <a:ext cx="18720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RAID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51600" y="3175200"/>
            <a:ext cx="1872000" cy="1141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Array of disks—protects data even if one hard drive fails.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84400" y="367200"/>
            <a:ext cx="49752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500FF"/>
                </a:solidFill>
                <a:latin typeface="Work Sans"/>
              </a:rPr>
              <a:t>TERMS TO UNDERSTAND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0" y="781200"/>
            <a:ext cx="8114400" cy="1436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>
                <a:solidFill>
                  <a:srgbClr val="000000"/>
                </a:solidFill>
                <a:latin typeface="Work Sans"/>
              </a:rPr>
              <a:t>Knowing these terms helps you follow how power, IT, and cooling systems work together.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81" y="3301200"/>
            <a:ext cx="9104437" cy="1843200"/>
          </a:xfrm>
          <a:prstGeom prst="rect">
            <a:avLst/>
          </a:prstGeom>
          <a:ln>
            <a:noFill/>
          </a:ln>
        </p:spPr>
      </p:pic>
      <p:sp>
        <p:nvSpPr>
          <p:cNvPr id="4" name="TextBox 3"/>
          <p:cNvSpPr txBox="1"/>
          <p:nvPr/>
        </p:nvSpPr>
        <p:spPr>
          <a:xfrm>
            <a:off x="2973600" y="6840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500" b="1">
                <a:solidFill>
                  <a:srgbClr val="0500FF"/>
                </a:solidFill>
                <a:latin typeface="Work Sans"/>
              </a:rPr>
              <a:t>DATA CENTER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4800" y="1098000"/>
            <a:ext cx="8114400" cy="191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2400">
                <a:solidFill>
                  <a:srgbClr val="000000"/>
                </a:solidFill>
                <a:latin typeface="Work Sans"/>
              </a:rPr>
              <a:t>A data center combines IT, power, and cooling systems into a reliable digital hub.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IT EQUIPMENT BASICS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IT equipment—the brains—process, store, and move data in secure, climate-controlled racks.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Network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Handles communication between servers and outside world.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Storage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Keeps all data safe and accessible for apps and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Compute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Servers process and analyze information nonstop.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NETWORK EQUIPMENT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Network gear is the nervous system, linking all servers and storage efficiently.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Top-of-Rack Switches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Each rack has its own switch, like a post office for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Aggregation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Bigger switches connect racks to the broader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Market Types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Consumer, SOHO, Enterprise, and Service Provider equipment serve different needs.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STORAGE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Storage tech includes tape, disk, and solid-state drives for varied speed and reliability.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Tape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Long-term archival like a safe deposit box—slow but secure.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Disk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Digital filing cabinets—good balance of speed and capacity.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Solid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Super-fast, no moving parts, like memorizing everything instantly.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SERVER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Servers: traditional (standalone) or blade (modular, efficient) for different needs.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Traditional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Independent, easy to maintain, lower cost per unit.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Blade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Share power/cooling, save space, higher upfront cost.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Rack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Standard sizing allows flexible stacking—like tech LEGO bricks.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POWER PATHWAYS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Multiple power layers prevent downtime—redundant feeds, batteries, and generators.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Utility Feeds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Two separate sources ensure power never stops.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ATS &amp; Generators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Switch instantly to backup during outages.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UPS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Batteries bridge the gap before generators start.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ELECTRICAL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Dedicated rooms house high-voltage gear, keeping IT space safe and efficient.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Switchgear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Controls and protects power 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PDUs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Distribute power to racks, monitor loads.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Battery Rooms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UPS batteries need ventilation and climate control.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WHITE SPACE POWER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Power delivered via floor PDUs, busways, and rack PDUs—think water mains to faucets.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Floor PDUs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Main power hub on the data center floor.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Overhead Busways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Flexible ‘electrical highways’ above racks.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Rack PDUs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Provide outlets and remote control for each rack.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COOLING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Cooling cycles move heat from servers to the outdoors—like AC on a massive scale.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Chillers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Create chilled water, remove most heat.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Cooling Towers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Release heat to the atmosphere, like sweating.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Pumps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Circulate water to keep everything cool.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MECHANICAL ROOMS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AHUs, fans, and dampers control air delivery and quality for IT and people.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AHUs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Air handling units adjust temp, humidity, and filter air.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Fans &amp;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Keep air clean and circulating.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Dampers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Direct airflow where needed most.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WHITE SPACE COOLING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CRAC, CRAH, and IRC units deliver precise cooling where servers need it most.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CRAC/CRAH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Blow cold air under floors, up to servers.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In-Row Cooling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Cools between racks for targeted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Overhead/Rear-Door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Extra solutions for high-density zones.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6800" y="1036800"/>
            <a:ext cx="31968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500FF"/>
                </a:solidFill>
                <a:latin typeface="Work Sans"/>
              </a:rPr>
              <a:t>EQUIPMENT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6800" y="1450800"/>
            <a:ext cx="4215600" cy="30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400">
                <a:solidFill>
                  <a:srgbClr val="000000"/>
                </a:solidFill>
                <a:latin typeface="Work Sans"/>
              </a:rPr>
              <a:t>Power, cooling, and racks work in harmony—remove one and the system fails.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155200" y="0"/>
            <a:ext cx="3988800" cy="5144400"/>
          </a:xfrm>
          <a:prstGeom prst="rect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83999" y="5760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Redundant Power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83999" y="939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Every critical device gets two power feeds.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83999" y="19332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Cooling Follows Power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3999" y="22932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Heat generated = cooling required.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3999" y="3315600"/>
            <a:ext cx="25668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00000"/>
                </a:solidFill>
                <a:latin typeface="Work Sans"/>
              </a:rPr>
              <a:t>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3999" y="3675600"/>
            <a:ext cx="2566800" cy="889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Systems track power, temp, airflow, and alert on issues.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44800" y="5760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44800" y="19332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4800" y="3315600"/>
            <a:ext cx="439200" cy="36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0500FF"/>
                </a:solidFill>
                <a:latin typeface="Work Sans"/>
              </a:rPr>
              <a:t>3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61200" y="478800"/>
            <a:ext cx="511200" cy="511200"/>
          </a:xfrm>
          <a:prstGeom prst="ellipse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1200" y="522000"/>
            <a:ext cx="511200" cy="421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>
                <a:solidFill>
                  <a:srgbClr val="000000"/>
                </a:solidFill>
                <a:latin typeface="Work Sans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1200" y="1090800"/>
            <a:ext cx="31284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00000"/>
                </a:solidFill>
                <a:latin typeface="Work Sans"/>
              </a:rPr>
              <a:t>1st key 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1200" y="1504800"/>
            <a:ext cx="3384000" cy="10007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Data centers rely on IT, power, and cooling systems working together.</a:t>
            </a:r>
          </a:p>
        </p:txBody>
      </p:sp>
      <p:sp>
        <p:nvSpPr>
          <p:cNvPr id="6" name="Oval 5"/>
          <p:cNvSpPr/>
          <p:nvPr/>
        </p:nvSpPr>
        <p:spPr>
          <a:xfrm>
            <a:off x="961200" y="2635200"/>
            <a:ext cx="511200" cy="511200"/>
          </a:xfrm>
          <a:prstGeom prst="ellipse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1200" y="2682000"/>
            <a:ext cx="511200" cy="421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>
                <a:solidFill>
                  <a:srgbClr val="000000"/>
                </a:solidFill>
                <a:latin typeface="Work San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1200" y="3250800"/>
            <a:ext cx="31284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00000"/>
                </a:solidFill>
                <a:latin typeface="Work Sans"/>
              </a:rPr>
              <a:t>3rd key takeaway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1200" y="3664800"/>
            <a:ext cx="3384000" cy="10007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Mapping equipment to its location clarifies how the whole system operates.</a:t>
            </a:r>
          </a:p>
        </p:txBody>
      </p:sp>
      <p:sp>
        <p:nvSpPr>
          <p:cNvPr id="10" name="Oval 9"/>
          <p:cNvSpPr/>
          <p:nvPr/>
        </p:nvSpPr>
        <p:spPr>
          <a:xfrm>
            <a:off x="4798800" y="478800"/>
            <a:ext cx="511200" cy="511200"/>
          </a:xfrm>
          <a:prstGeom prst="ellipse">
            <a:avLst/>
          </a:prstGeom>
          <a:solidFill>
            <a:srgbClr val="F9FAFF"/>
          </a:solidFill>
          <a:ln>
            <a:solidFill>
              <a:srgbClr val="F9FA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98800" y="522000"/>
            <a:ext cx="511200" cy="421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>
                <a:solidFill>
                  <a:srgbClr val="000000"/>
                </a:solidFill>
                <a:latin typeface="Work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98800" y="1090800"/>
            <a:ext cx="31284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00000"/>
                </a:solidFill>
                <a:latin typeface="Work Sans"/>
              </a:rPr>
              <a:t>2nd key takeaway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98800" y="1504800"/>
            <a:ext cx="3384000" cy="10007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Redundancy in power and cooling ensures 24/7 uptime for digital services.</a:t>
            </a:r>
          </a:p>
        </p:txBody>
      </p:sp>
      <p:sp>
        <p:nvSpPr>
          <p:cNvPr id="14" name="Oval 13"/>
          <p:cNvSpPr/>
          <p:nvPr/>
        </p:nvSpPr>
        <p:spPr>
          <a:xfrm>
            <a:off x="4798800" y="2635200"/>
            <a:ext cx="511200" cy="511200"/>
          </a:xfrm>
          <a:prstGeom prst="ellipse">
            <a:avLst/>
          </a:prstGeom>
          <a:solidFill>
            <a:srgbClr val="0500FF"/>
          </a:solidFill>
          <a:ln>
            <a:solidFill>
              <a:srgbClr val="050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98800" y="2682000"/>
            <a:ext cx="511200" cy="421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sz="1500">
                <a:solidFill>
                  <a:srgbClr val="FFFFFF"/>
                </a:solidFill>
                <a:latin typeface="Work Sans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98800" y="3250800"/>
            <a:ext cx="3128400" cy="4139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000000"/>
                </a:solidFill>
                <a:latin typeface="Work Sans"/>
              </a:rPr>
              <a:t>4th key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8800" y="3664800"/>
            <a:ext cx="3384000" cy="100079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>
                <a:solidFill>
                  <a:srgbClr val="000000"/>
                </a:solidFill>
                <a:latin typeface="Work Sans"/>
              </a:rPr>
              <a:t>Precise terminology and layered protection are essential for reliability and safety.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5812" y="226800"/>
            <a:ext cx="693975" cy="1440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880</Words>
  <Application>Microsoft Macintosh PowerPoint</Application>
  <PresentationFormat>Custom</PresentationFormat>
  <Paragraphs>167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Work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sunil pandey</cp:lastModifiedBy>
  <cp:revision>3</cp:revision>
  <dcterms:created xsi:type="dcterms:W3CDTF">2013-01-27T09:14:16Z</dcterms:created>
  <dcterms:modified xsi:type="dcterms:W3CDTF">2025-08-08T22:18:52Z</dcterms:modified>
  <cp:category/>
</cp:coreProperties>
</file>